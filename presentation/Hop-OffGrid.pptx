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ns2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embeddedFontLst>
    <p:embeddedFont>
      <p:font typeface="Inter" pitchFamily="2" charset="0"/>
      <p:regular r:id="rId16"/>
      <p:italic r:id="rId17"/>
    </p:embeddedFont>
    <p:embeddedFont>
      <p:font typeface="Libre Baskerville" pitchFamily="2" charset="0"/>
      <p:regular r:id="rId18"/>
      <p:italic r:id="rId19"/>
      <p:bold r:id="rId20"/>
    </p:embeddedFont>
  </p:embeddedFontLst>
  <p:sldSz cx="12192000" cy="6858000" type="screen4x3"/>
  <p:notesSz cx="6858000" cy="9144000"/>
  <p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 xmlns:r="http://schemas.openxmlformats.org/officeDocument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r:Relationship Id="rId16" Type="http://schemas.openxmlformats.org/officeDocument/2006/relationships/font" Target="fonts/font16.fntdata" /><r:Relationship Id="rId17" Type="http://schemas.openxmlformats.org/officeDocument/2006/relationships/font" Target="fonts/font17.fntdata" /><r:Relationship Id="rId18" Type="http://schemas.openxmlformats.org/officeDocument/2006/relationships/font" Target="fonts/font18.fntdata" /><r:Relationship Id="rId19" Type="http://schemas.openxmlformats.org/officeDocument/2006/relationships/font" Target="fonts/font19.fntdata" /><r:Relationship Id="rId20" Type="http://schemas.openxmlformats.org/officeDocument/2006/relationships/font" Target="fonts/font20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793992" y="1993392"/>
            <a:ext cx="10972" cy="1481327"/>
          </a:xfrm>
          <a:prstGeom prst="rect">
            <a:avLst/>
          </a:prstGeom>
          <a:solidFill>
            <a:srgbClr val="B0A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1100" b="0" i="0" spc="160">
                <a:solidFill>
                  <a:srgbClr val="B0ADA6"/>
                </a:solidFill>
                <a:latin typeface="Inter"/>
              </a:rPr>
              <a:t>01 · OFFGRID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45936"/>
            <a:ext cx="67665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1100" b="0" i="0" spc="120">
                <a:solidFill>
                  <a:srgbClr val="B0ADA6"/>
                </a:solidFill>
                <a:latin typeface="Inter"/>
              </a:rPr>
              <a:t>AKSHAI KRISHNA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45936"/>
            <a:ext cx="1109472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ct val="120000"/>
              </a:lnSpc>
            </a:pPr>
            <a:r>
              <a:rPr sz="1100" b="0" i="0" spc="120">
                <a:solidFill>
                  <a:srgbClr val="B0ADA6"/>
                </a:solidFill>
                <a:latin typeface="Inter"/>
              </a:rPr>
              <a:t>01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93392"/>
            <a:ext cx="5989320" cy="51206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F5F3EF"/>
                </a:solidFill>
                <a:latin typeface="Libre Baskerville"/>
              </a:rPr>
              <a:t>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59893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5000"/>
              </a:lnSpc>
            </a:pPr>
            <a:r>
              <a:rPr sz="1600" b="0" i="1">
                <a:solidFill>
                  <a:srgbClr val="F5F3EF"/>
                </a:solidFill>
                <a:latin typeface="Libre Baskerville"/>
              </a:rPr>
              <a:t>Your floor, offline.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50024" y="1993392"/>
            <a:ext cx="4593336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B0ADA6"/>
                </a:solidFill>
                <a:latin typeface="Inter"/>
              </a:rPr>
              <a:t>OffGrid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50024" y="2377440"/>
            <a:ext cx="4593336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B0ADA6"/>
                </a:solidFill>
                <a:latin typeface="Inter"/>
              </a:rPr>
              <a:t>Solo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0024" y="2761488"/>
            <a:ext cx="4593336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B0ADA6"/>
                </a:solidFill>
                <a:latin typeface="Inter"/>
              </a:rPr>
              <a:t>Open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0024" y="3145536"/>
            <a:ext cx="4593336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B0ADA6"/>
                </a:solidFill>
                <a:latin typeface="Inter"/>
              </a:rPr>
              <a:t>github.com/flyme2mars/hop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1536192"/>
            <a:ext cx="11094720" cy="1432560"/>
          </a:xfrm>
          <a:prstGeom prst="roundRect">
            <a:avLst>
              <a:gd name="adj" fmla="val 6382"/>
            </a:avLst>
          </a:prstGeom>
          <a:solidFill>
            <a:srgbClr val="EE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096768"/>
            <a:ext cx="11094720" cy="1432560"/>
          </a:xfrm>
          <a:prstGeom prst="roundRect">
            <a:avLst>
              <a:gd name="adj" fmla="val 6382"/>
            </a:avLst>
          </a:prstGeom>
          <a:solidFill>
            <a:srgbClr val="EE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657344"/>
            <a:ext cx="11094720" cy="1432560"/>
          </a:xfrm>
          <a:prstGeom prst="roundRect">
            <a:avLst>
              <a:gd name="adj" fmla="val 6382"/>
            </a:avLst>
          </a:prstGeom>
          <a:solidFill>
            <a:srgbClr val="EE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1100" b="0" i="0" spc="160">
                <a:solidFill>
                  <a:srgbClr val="5F5C56"/>
                </a:solidFill>
                <a:latin typeface="Inter"/>
              </a:rPr>
              <a:t>02 ·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45936"/>
            <a:ext cx="67665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1100" b="0" i="0" spc="120">
                <a:solidFill>
                  <a:srgbClr val="5F5C56"/>
                </a:solidFill>
                <a:latin typeface="Inter"/>
              </a:rPr>
              <a:t>AKSHAI KRISHNA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45936"/>
            <a:ext cx="1109472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ct val="120000"/>
              </a:lnSpc>
            </a:pPr>
            <a:r>
              <a:rPr sz="1100" b="0" i="0" spc="120">
                <a:solidFill>
                  <a:srgbClr val="5F5C56"/>
                </a:solidFill>
                <a:latin typeface="Inter"/>
              </a:rPr>
              <a:t>02 /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77824"/>
            <a:ext cx="11094720" cy="51206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121212"/>
                </a:solidFill>
                <a:latin typeface="Libre Baskerville"/>
              </a:rPr>
              <a:t>Hostel floors lose the network.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82495"/>
            <a:ext cx="10692384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5F5C56"/>
                </a:solidFill>
                <a:latin typeface="Libre Baskerville"/>
              </a:rPr>
              <a:t>Dead zones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20240"/>
            <a:ext cx="10692384" cy="92049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21212"/>
                </a:solidFill>
                <a:latin typeface="Inter"/>
              </a:rPr>
              <a:t>Hostel floors often have dead zones, or no usable network.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243072"/>
            <a:ext cx="10692384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5F5C56"/>
                </a:solidFill>
                <a:latin typeface="Libre Baskerville"/>
              </a:rPr>
              <a:t>Power cuts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480816"/>
            <a:ext cx="10692384" cy="92049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21212"/>
                </a:solidFill>
                <a:latin typeface="Inter"/>
              </a:rPr>
              <a:t>During a power cut, phones cannot help the floor coordinate.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803648"/>
            <a:ext cx="10692384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5F5C56"/>
                </a:solidFill>
                <a:latin typeface="Libre Baskerville"/>
              </a:rPr>
              <a:t>The tower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041391"/>
            <a:ext cx="10692384" cy="92049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21212"/>
                </a:solidFill>
                <a:latin typeface="Inter"/>
              </a:rPr>
              <a:t>WhatsApp needs the tower. The floor does not always have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1536192"/>
            <a:ext cx="11094720" cy="1432560"/>
          </a:xfrm>
          <a:prstGeom prst="roundRect">
            <a:avLst>
              <a:gd name="adj" fmla="val 6382"/>
            </a:avLst>
          </a:prstGeom>
          <a:solidFill>
            <a:srgbClr val="EE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096768"/>
            <a:ext cx="11094720" cy="1432560"/>
          </a:xfrm>
          <a:prstGeom prst="roundRect">
            <a:avLst>
              <a:gd name="adj" fmla="val 6382"/>
            </a:avLst>
          </a:prstGeom>
          <a:solidFill>
            <a:srgbClr val="EE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657344"/>
            <a:ext cx="11094720" cy="1432560"/>
          </a:xfrm>
          <a:prstGeom prst="roundRect">
            <a:avLst>
              <a:gd name="adj" fmla="val 6382"/>
            </a:avLst>
          </a:prstGeom>
          <a:solidFill>
            <a:srgbClr val="EE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1100" b="0" i="0" spc="160">
                <a:solidFill>
                  <a:srgbClr val="5F5C56"/>
                </a:solidFill>
                <a:latin typeface="Inter"/>
              </a:rPr>
              <a:t>03 ·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45936"/>
            <a:ext cx="67665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1100" b="0" i="0" spc="120">
                <a:solidFill>
                  <a:srgbClr val="5F5C56"/>
                </a:solidFill>
                <a:latin typeface="Inter"/>
              </a:rPr>
              <a:t>AKSHAI KRISHNA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45936"/>
            <a:ext cx="1109472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ct val="120000"/>
              </a:lnSpc>
            </a:pPr>
            <a:r>
              <a:rPr sz="1100" b="0" i="0" spc="120">
                <a:solidFill>
                  <a:srgbClr val="5F5C56"/>
                </a:solidFill>
                <a:latin typeface="Inter"/>
              </a:rPr>
              <a:t>03 /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77824"/>
            <a:ext cx="11094720" cy="51206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121212"/>
                </a:solidFill>
                <a:latin typeface="Libre Baskerville"/>
              </a:rPr>
              <a:t>A floor board with no internet.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82495"/>
            <a:ext cx="10692384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5F5C56"/>
                </a:solidFill>
                <a:latin typeface="Libre Baskerville"/>
              </a:rPr>
              <a:t>Android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20240"/>
            <a:ext cx="10692384" cy="92049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21212"/>
                </a:solidFill>
                <a:latin typeface="Inter"/>
              </a:rPr>
              <a:t>A local Offer / Ask / Note board on your floor. It works with no internet.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243072"/>
            <a:ext cx="10692384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5F5C56"/>
                </a:solidFill>
                <a:latin typeface="Libre Baskerville"/>
              </a:rPr>
              <a:t>Nearby phones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480816"/>
            <a:ext cx="10692384" cy="92049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21212"/>
                </a:solidFill>
                <a:latin typeface="Inter"/>
              </a:rPr>
              <a:t>Phones on the same floor can share posts over Bluetooth when the app is open.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803648"/>
            <a:ext cx="10692384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5F5C56"/>
                </a:solidFill>
                <a:latin typeface="Libre Baskerville"/>
              </a:rPr>
              <a:t>Blackout 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041391"/>
            <a:ext cx="10692384" cy="92049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21212"/>
                </a:solidFill>
                <a:latin typeface="Inter"/>
              </a:rPr>
              <a:t>A full black screen with a timer, and I’m OK / Need help.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1536192"/>
            <a:ext cx="5483352" cy="1042416"/>
          </a:xfrm>
          <a:prstGeom prst="roundRect">
            <a:avLst>
              <a:gd name="adj" fmla="val 8771"/>
            </a:avLst>
          </a:prstGeom>
          <a:solidFill>
            <a:srgbClr val="EE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60008" y="1536192"/>
            <a:ext cx="5483352" cy="1042416"/>
          </a:xfrm>
          <a:prstGeom prst="roundRect">
            <a:avLst>
              <a:gd name="adj" fmla="val 8771"/>
            </a:avLst>
          </a:prstGeom>
          <a:solidFill>
            <a:srgbClr val="EE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706624"/>
            <a:ext cx="5483352" cy="1042416"/>
          </a:xfrm>
          <a:prstGeom prst="roundRect">
            <a:avLst>
              <a:gd name="adj" fmla="val 8771"/>
            </a:avLst>
          </a:prstGeom>
          <a:solidFill>
            <a:srgbClr val="EE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60008" y="2706624"/>
            <a:ext cx="5483352" cy="1042416"/>
          </a:xfrm>
          <a:prstGeom prst="roundRect">
            <a:avLst>
              <a:gd name="adj" fmla="val 8771"/>
            </a:avLst>
          </a:prstGeom>
          <a:solidFill>
            <a:srgbClr val="EE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3877056"/>
            <a:ext cx="5483352" cy="1042416"/>
          </a:xfrm>
          <a:prstGeom prst="roundRect">
            <a:avLst>
              <a:gd name="adj" fmla="val 8771"/>
            </a:avLst>
          </a:prstGeom>
          <a:solidFill>
            <a:srgbClr val="EE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60008" y="3877056"/>
            <a:ext cx="5483352" cy="1042416"/>
          </a:xfrm>
          <a:prstGeom prst="roundRect">
            <a:avLst>
              <a:gd name="adj" fmla="val 8771"/>
            </a:avLst>
          </a:prstGeom>
          <a:solidFill>
            <a:srgbClr val="EE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5047488"/>
            <a:ext cx="5483352" cy="1042416"/>
          </a:xfrm>
          <a:prstGeom prst="roundRect">
            <a:avLst>
              <a:gd name="adj" fmla="val 8771"/>
            </a:avLst>
          </a:prstGeom>
          <a:solidFill>
            <a:srgbClr val="EE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0008" y="5047488"/>
            <a:ext cx="5483352" cy="1042416"/>
          </a:xfrm>
          <a:prstGeom prst="roundRect">
            <a:avLst>
              <a:gd name="adj" fmla="val 8771"/>
            </a:avLst>
          </a:prstGeom>
          <a:solidFill>
            <a:srgbClr val="EE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4864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1100" b="0" i="0" spc="160">
                <a:solidFill>
                  <a:srgbClr val="5F5C56"/>
                </a:solidFill>
                <a:latin typeface="Inter"/>
              </a:rPr>
              <a:t>04 ·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45936"/>
            <a:ext cx="67665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1100" b="0" i="0" spc="120">
                <a:solidFill>
                  <a:srgbClr val="5F5C56"/>
                </a:solidFill>
                <a:latin typeface="Inter"/>
              </a:rPr>
              <a:t>AKSHAI KRISHNA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45936"/>
            <a:ext cx="1109472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ct val="120000"/>
              </a:lnSpc>
            </a:pPr>
            <a:r>
              <a:rPr sz="1100" b="0" i="0" spc="120">
                <a:solidFill>
                  <a:srgbClr val="5F5C56"/>
                </a:solidFill>
                <a:latin typeface="Inter"/>
              </a:rPr>
              <a:t>04 / 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877824"/>
            <a:ext cx="11094720" cy="51206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121212"/>
                </a:solidFill>
                <a:latin typeface="Libre Baskerville"/>
              </a:rPr>
              <a:t>Board, blackout, and nearby sync.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664207"/>
            <a:ext cx="5081016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5F5C56"/>
                </a:solidFill>
                <a:latin typeface="Libre Baskerville"/>
              </a:rPr>
              <a:t>Setup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1901952"/>
            <a:ext cx="5081016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21212"/>
                </a:solidFill>
                <a:latin typeface="Inter"/>
              </a:rPr>
              <a:t>Set name, room, and floor.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1175" y="1664207"/>
            <a:ext cx="5081016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5F5C56"/>
                </a:solidFill>
                <a:latin typeface="Libre Baskerville"/>
              </a:rPr>
              <a:t>Floor 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1175" y="1901952"/>
            <a:ext cx="5081016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21212"/>
                </a:solidFill>
                <a:latin typeface="Inter"/>
              </a:rPr>
              <a:t>Floor board with filters.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834640"/>
            <a:ext cx="5081016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5F5C56"/>
                </a:solidFill>
                <a:latin typeface="Libre Baskerville"/>
              </a:rPr>
              <a:t>Claim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072384"/>
            <a:ext cx="5081016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21212"/>
                </a:solidFill>
                <a:latin typeface="Inter"/>
              </a:rPr>
              <a:t>Claim posts on the floor.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1175" y="2834640"/>
            <a:ext cx="5081016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5F5C56"/>
                </a:solidFill>
                <a:latin typeface="Libre Baskerville"/>
              </a:rPr>
              <a:t>History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1175" y="3072384"/>
            <a:ext cx="5081016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21212"/>
                </a:solidFill>
                <a:latin typeface="Inter"/>
              </a:rPr>
              <a:t>History of posts.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005072"/>
            <a:ext cx="5081016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5F5C56"/>
                </a:solidFill>
                <a:latin typeface="Libre Baskerville"/>
              </a:rPr>
              <a:t>Settings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242816"/>
            <a:ext cx="5081016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21212"/>
                </a:solidFill>
                <a:latin typeface="Inter"/>
              </a:rPr>
              <a:t>App settings.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1175" y="4005072"/>
            <a:ext cx="5081016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5F5C56"/>
                </a:solidFill>
                <a:latin typeface="Libre Baskerville"/>
              </a:rPr>
              <a:t>Blackout mode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1175" y="4242816"/>
            <a:ext cx="5081016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21212"/>
                </a:solidFill>
                <a:latin typeface="Inter"/>
              </a:rPr>
              <a:t>Full black screen with a timer and I’m OK / Need help.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175504"/>
            <a:ext cx="5081016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5F5C56"/>
                </a:solidFill>
                <a:latin typeface="Libre Baskerville"/>
              </a:rPr>
              <a:t>Nearby sync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5413248"/>
            <a:ext cx="5081016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21212"/>
                </a:solidFill>
                <a:latin typeface="Inter"/>
              </a:rPr>
              <a:t>Bluetooth nearby sync, same floor, when the app is open.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1175" y="5175504"/>
            <a:ext cx="5081016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5F5C56"/>
                </a:solidFill>
                <a:latin typeface="Libre Baskerville"/>
              </a:rPr>
              <a:t>Offline alone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1175" y="5413248"/>
            <a:ext cx="5081016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21212"/>
                </a:solidFill>
                <a:latin typeface="Inter"/>
              </a:rPr>
              <a:t>Fully usable offline alone.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u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36192"/>
            <a:ext cx="1932970" cy="4297680"/>
          </a:xfrm>
          <a:prstGeom prst="rect">
            <a:avLst/>
          </a:prstGeom>
        </p:spPr>
      </p:pic>
      <p:pic>
        <p:nvPicPr>
          <p:cNvPr id="3" name="Picture 2" descr="flo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4490" y="1536192"/>
            <a:ext cx="1932970" cy="4297680"/>
          </a:xfrm>
          <a:prstGeom prst="rect">
            <a:avLst/>
          </a:prstGeom>
        </p:spPr>
      </p:pic>
      <p:pic>
        <p:nvPicPr>
          <p:cNvPr id="4" name="Picture 3" descr="she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0341" y="1536192"/>
            <a:ext cx="1932970" cy="4297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4864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1100" b="0" i="0" spc="160">
                <a:solidFill>
                  <a:srgbClr val="5F5C56"/>
                </a:solidFill>
                <a:latin typeface="Inter"/>
              </a:rPr>
              <a:t>05 · SCREENS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45936"/>
            <a:ext cx="67665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1100" b="0" i="0" spc="120">
                <a:solidFill>
                  <a:srgbClr val="5F5C56"/>
                </a:solidFill>
                <a:latin typeface="Inter"/>
              </a:rPr>
              <a:t>AKSHAI KRISHNA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45936"/>
            <a:ext cx="1109472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ct val="120000"/>
              </a:lnSpc>
            </a:pPr>
            <a:r>
              <a:rPr sz="1100" b="0" i="0" spc="120">
                <a:solidFill>
                  <a:srgbClr val="5F5C56"/>
                </a:solidFill>
                <a:latin typeface="Inter"/>
              </a:rPr>
              <a:t>05 /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77824"/>
            <a:ext cx="11094720" cy="51206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121212"/>
                </a:solidFill>
                <a:latin typeface="Libre Baskerville"/>
              </a:rPr>
              <a:t>The floor board.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70448"/>
            <a:ext cx="193297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5F5C56"/>
                </a:solidFill>
                <a:latin typeface="Libre Baskerville"/>
              </a:rPr>
              <a:t>First open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64490" y="5870448"/>
            <a:ext cx="193297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5F5C56"/>
                </a:solidFill>
                <a:latin typeface="Libre Baskerville"/>
              </a:rPr>
              <a:t>Floor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341" y="5870448"/>
            <a:ext cx="193297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5F5C56"/>
                </a:solidFill>
                <a:latin typeface="Libre Baskerville"/>
              </a:rPr>
              <a:t>New 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2496" y="1609344"/>
            <a:ext cx="4600863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5F5C56"/>
                </a:solidFill>
                <a:latin typeface="Libre Baskerville"/>
              </a:rPr>
              <a:t>First open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2496" y="1865376"/>
            <a:ext cx="4600863" cy="8778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21212"/>
                </a:solidFill>
                <a:latin typeface="Inter"/>
              </a:rPr>
              <a:t>Set name, room, and floor.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2496" y="3078480"/>
            <a:ext cx="4600863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5F5C56"/>
                </a:solidFill>
                <a:latin typeface="Libre Baskerville"/>
              </a:rPr>
              <a:t>Floor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2496" y="3334512"/>
            <a:ext cx="4600863" cy="8778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21212"/>
                </a:solidFill>
                <a:latin typeface="Inter"/>
              </a:rPr>
              <a:t>Offer / Ask / Note board, with filters. Claim posts.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2496" y="4547616"/>
            <a:ext cx="4600863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5F5C56"/>
                </a:solidFill>
                <a:latin typeface="Libre Baskerville"/>
              </a:rPr>
              <a:t>New 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2496" y="4803648"/>
            <a:ext cx="4600863" cy="8778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21212"/>
                </a:solidFill>
                <a:latin typeface="Inter"/>
              </a:rPr>
              <a:t>Write an Offer, Ask, or Note.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ack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36192"/>
            <a:ext cx="1932970" cy="4297680"/>
          </a:xfrm>
          <a:prstGeom prst="rect">
            <a:avLst/>
          </a:prstGeom>
        </p:spPr>
      </p:pic>
      <p:pic>
        <p:nvPicPr>
          <p:cNvPr id="3" name="Picture 2" descr="nearb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4490" y="1536192"/>
            <a:ext cx="1932970" cy="429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4864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1100" b="0" i="0" spc="160">
                <a:solidFill>
                  <a:srgbClr val="5F5C56"/>
                </a:solidFill>
                <a:latin typeface="Inter"/>
              </a:rPr>
              <a:t>06 · 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45936"/>
            <a:ext cx="67665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1100" b="0" i="0" spc="120">
                <a:solidFill>
                  <a:srgbClr val="5F5C56"/>
                </a:solidFill>
                <a:latin typeface="Inter"/>
              </a:rPr>
              <a:t>AKSHAI KRISHNA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45936"/>
            <a:ext cx="1109472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ct val="120000"/>
              </a:lnSpc>
            </a:pPr>
            <a:r>
              <a:rPr sz="1100" b="0" i="0" spc="120">
                <a:solidFill>
                  <a:srgbClr val="5F5C56"/>
                </a:solidFill>
                <a:latin typeface="Inter"/>
              </a:rPr>
              <a:t>06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77824"/>
            <a:ext cx="11094720" cy="51206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121212"/>
                </a:solidFill>
                <a:latin typeface="Libre Baskerville"/>
              </a:rPr>
              <a:t>Blackout, and nearby.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870448"/>
            <a:ext cx="193297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5F5C56"/>
                </a:solidFill>
                <a:latin typeface="Libre Baskerville"/>
              </a:rPr>
              <a:t>Blackout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64490" y="5870448"/>
            <a:ext cx="193297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5F5C56"/>
                </a:solidFill>
                <a:latin typeface="Libre Baskerville"/>
              </a:rPr>
              <a:t>Nearby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26645" y="1609344"/>
            <a:ext cx="6716714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5F5C56"/>
                </a:solidFill>
                <a:latin typeface="Libre Baskerville"/>
              </a:rPr>
              <a:t>Blackout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6645" y="1865376"/>
            <a:ext cx="6716714" cy="8778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21212"/>
                </a:solidFill>
                <a:latin typeface="Inter"/>
              </a:rPr>
              <a:t>A full black screen with a timer, and I’m OK / Need help.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26645" y="3813048"/>
            <a:ext cx="6716714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5F5C56"/>
                </a:solidFill>
                <a:latin typeface="Libre Baskerville"/>
              </a:rPr>
              <a:t>Nearby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26645" y="4069080"/>
            <a:ext cx="6716714" cy="8778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21212"/>
                </a:solidFill>
                <a:latin typeface="Inter"/>
              </a:rPr>
              <a:t>Bluetooth nearby sync on the same floor, when the app is open. Fully usable offline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1536192"/>
            <a:ext cx="11094720" cy="1042416"/>
          </a:xfrm>
          <a:prstGeom prst="roundRect">
            <a:avLst>
              <a:gd name="adj" fmla="val 8771"/>
            </a:avLst>
          </a:prstGeom>
          <a:solidFill>
            <a:srgbClr val="EE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06624"/>
            <a:ext cx="11094720" cy="1042416"/>
          </a:xfrm>
          <a:prstGeom prst="roundRect">
            <a:avLst>
              <a:gd name="adj" fmla="val 8771"/>
            </a:avLst>
          </a:prstGeom>
          <a:solidFill>
            <a:srgbClr val="EE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877056"/>
            <a:ext cx="11094720" cy="1042416"/>
          </a:xfrm>
          <a:prstGeom prst="roundRect">
            <a:avLst>
              <a:gd name="adj" fmla="val 8771"/>
            </a:avLst>
          </a:prstGeom>
          <a:solidFill>
            <a:srgbClr val="EE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5047488"/>
            <a:ext cx="11094720" cy="1042416"/>
          </a:xfrm>
          <a:prstGeom prst="roundRect">
            <a:avLst>
              <a:gd name="adj" fmla="val 8771"/>
            </a:avLst>
          </a:prstGeom>
          <a:solidFill>
            <a:srgbClr val="EE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1100" b="0" i="0" spc="160">
                <a:solidFill>
                  <a:srgbClr val="5F5C56"/>
                </a:solidFill>
                <a:latin typeface="Inter"/>
              </a:rPr>
              <a:t>07 ·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45936"/>
            <a:ext cx="67665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1100" b="0" i="0" spc="120">
                <a:solidFill>
                  <a:srgbClr val="5F5C56"/>
                </a:solidFill>
                <a:latin typeface="Inter"/>
              </a:rPr>
              <a:t>AKSHAI KRISHNA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45936"/>
            <a:ext cx="1109472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ct val="120000"/>
              </a:lnSpc>
            </a:pPr>
            <a:r>
              <a:rPr sz="1100" b="0" i="0" spc="120">
                <a:solidFill>
                  <a:srgbClr val="5F5C56"/>
                </a:solidFill>
                <a:latin typeface="Inter"/>
              </a:rPr>
              <a:t>07 /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77824"/>
            <a:ext cx="11094720" cy="51206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121212"/>
                </a:solidFill>
                <a:latin typeface="Libre Baskerville"/>
              </a:rPr>
              <a:t>What it is built with.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82495"/>
            <a:ext cx="10692384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5F5C56"/>
                </a:solidFill>
                <a:latin typeface="Libre Baskerville"/>
              </a:rPr>
              <a:t>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920240"/>
            <a:ext cx="10692384" cy="53035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21212"/>
                </a:solidFill>
                <a:latin typeface="Inter"/>
              </a:rPr>
              <a:t>Kotlin, Jetpack Compose, and Material 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852928"/>
            <a:ext cx="10692384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5F5C56"/>
                </a:solidFill>
                <a:latin typeface="Libre Baskerville"/>
              </a:rPr>
              <a:t>Local store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090672"/>
            <a:ext cx="10692384" cy="53035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21212"/>
                </a:solidFill>
                <a:latin typeface="Inter"/>
              </a:rPr>
              <a:t>Room and DataStore.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023360"/>
            <a:ext cx="10692384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5F5C56"/>
                </a:solidFill>
                <a:latin typeface="Libre Baskerville"/>
              </a:rPr>
              <a:t>Nearby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261104"/>
            <a:ext cx="10692384" cy="53035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21212"/>
                </a:solidFill>
                <a:latin typeface="Inter"/>
              </a:rPr>
              <a:t>BLE advertise / scan + GATT sync.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193792"/>
            <a:ext cx="10692384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5F5C56"/>
                </a:solidFill>
                <a:latin typeface="Libre Baskerville"/>
              </a:rPr>
              <a:t>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431536"/>
            <a:ext cx="10692384" cy="53035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21212"/>
                </a:solidFill>
                <a:latin typeface="Inter"/>
              </a:rPr>
              <a:t>GitHub Actions debug APK.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1536192"/>
            <a:ext cx="11094720" cy="1042416"/>
          </a:xfrm>
          <a:prstGeom prst="roundRect">
            <a:avLst>
              <a:gd name="adj" fmla="val 8771"/>
            </a:avLst>
          </a:prstGeom>
          <a:solidFill>
            <a:srgbClr val="EE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06624"/>
            <a:ext cx="11094720" cy="1042416"/>
          </a:xfrm>
          <a:prstGeom prst="roundRect">
            <a:avLst>
              <a:gd name="adj" fmla="val 8771"/>
            </a:avLst>
          </a:prstGeom>
          <a:solidFill>
            <a:srgbClr val="EE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877056"/>
            <a:ext cx="11094720" cy="1042416"/>
          </a:xfrm>
          <a:prstGeom prst="roundRect">
            <a:avLst>
              <a:gd name="adj" fmla="val 8771"/>
            </a:avLst>
          </a:prstGeom>
          <a:solidFill>
            <a:srgbClr val="EE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5047488"/>
            <a:ext cx="11094720" cy="1042416"/>
          </a:xfrm>
          <a:prstGeom prst="roundRect">
            <a:avLst>
              <a:gd name="adj" fmla="val 8771"/>
            </a:avLst>
          </a:prstGeom>
          <a:solidFill>
            <a:srgbClr val="EE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1100" b="0" i="0" spc="160">
                <a:solidFill>
                  <a:srgbClr val="5F5C56"/>
                </a:solidFill>
                <a:latin typeface="Inter"/>
              </a:rPr>
              <a:t>08 · FUTURE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45936"/>
            <a:ext cx="67665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1100" b="0" i="0" spc="120">
                <a:solidFill>
                  <a:srgbClr val="5F5C56"/>
                </a:solidFill>
                <a:latin typeface="Inter"/>
              </a:rPr>
              <a:t>AKSHAI KRISHNA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45936"/>
            <a:ext cx="1109472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ct val="120000"/>
              </a:lnSpc>
            </a:pPr>
            <a:r>
              <a:rPr sz="1100" b="0" i="0" spc="120">
                <a:solidFill>
                  <a:srgbClr val="5F5C56"/>
                </a:solidFill>
                <a:latin typeface="Inter"/>
              </a:rPr>
              <a:t>08 /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77824"/>
            <a:ext cx="11094720" cy="51206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121212"/>
                </a:solidFill>
                <a:latin typeface="Libre Baskerville"/>
              </a:rPr>
              <a:t>After the first floor.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82495"/>
            <a:ext cx="10692384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5F5C56"/>
                </a:solidFill>
                <a:latin typeface="Libre Baskerville"/>
              </a:rPr>
              <a:t>Mesh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920240"/>
            <a:ext cx="10692384" cy="53035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21212"/>
                </a:solidFill>
                <a:latin typeface="Inter"/>
              </a:rPr>
              <a:t>Stronger multi-hop mesh.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852928"/>
            <a:ext cx="10692384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5F5C56"/>
                </a:solidFill>
                <a:latin typeface="Libre Baskerville"/>
              </a:rPr>
              <a:t>Peers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090672"/>
            <a:ext cx="10692384" cy="53035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21212"/>
                </a:solidFill>
                <a:latin typeface="Inter"/>
              </a:rPr>
              <a:t>Better peer UX.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023360"/>
            <a:ext cx="10692384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5F5C56"/>
                </a:solidFill>
                <a:latin typeface="Libre Baskerville"/>
              </a:rPr>
              <a:t>Background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261104"/>
            <a:ext cx="10692384" cy="53035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21212"/>
                </a:solidFill>
                <a:latin typeface="Inter"/>
              </a:rPr>
              <a:t>Background limits / battery.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193792"/>
            <a:ext cx="10692384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5F5C56"/>
                </a:solidFill>
                <a:latin typeface="Libre Baskerville"/>
              </a:rPr>
              <a:t>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431536"/>
            <a:ext cx="10692384" cy="53035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21212"/>
                </a:solidFill>
                <a:latin typeface="Inter"/>
              </a:rPr>
              <a:t>iOS if ever needed.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793992" y="1993392"/>
            <a:ext cx="10972" cy="1097279"/>
          </a:xfrm>
          <a:prstGeom prst="rect">
            <a:avLst/>
          </a:prstGeom>
          <a:solidFill>
            <a:srgbClr val="B0A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1100" b="0" i="0" spc="160">
                <a:solidFill>
                  <a:srgbClr val="B0ADA6"/>
                </a:solidFill>
                <a:latin typeface="Inter"/>
              </a:rPr>
              <a:t>09 · OFFGRID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45936"/>
            <a:ext cx="67665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1100" b="0" i="0" spc="120">
                <a:solidFill>
                  <a:srgbClr val="B0ADA6"/>
                </a:solidFill>
                <a:latin typeface="Inter"/>
              </a:rPr>
              <a:t>AKSHAI KRISHNA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45936"/>
            <a:ext cx="1109472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ct val="120000"/>
              </a:lnSpc>
            </a:pPr>
            <a:r>
              <a:rPr sz="1100" b="0" i="0" spc="120">
                <a:solidFill>
                  <a:srgbClr val="B0ADA6"/>
                </a:solidFill>
                <a:latin typeface="Inter"/>
              </a:rPr>
              <a:t>09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93392"/>
            <a:ext cx="5989320" cy="51206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F5F3EF"/>
                </a:solidFill>
                <a:latin typeface="Libre Baskerville"/>
              </a:rPr>
              <a:t>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59893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5000"/>
              </a:lnSpc>
            </a:pPr>
            <a:r>
              <a:rPr sz="1600" b="0" i="1">
                <a:solidFill>
                  <a:srgbClr val="F5F3EF"/>
                </a:solidFill>
                <a:latin typeface="Libre Baskerville"/>
              </a:rPr>
              <a:t>Your floor, offline.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50024" y="1993392"/>
            <a:ext cx="4593336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B0ADA6"/>
                </a:solidFill>
                <a:latin typeface="Inter"/>
              </a:rPr>
              <a:t>github.com/flyme2mars/hop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50024" y="2377440"/>
            <a:ext cx="4593336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B0ADA6"/>
                </a:solidFill>
                <a:latin typeface="Inter"/>
              </a:rPr>
              <a:t>Solo OffGrid entry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0024" y="2761488"/>
            <a:ext cx="4593336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B0ADA6"/>
                </a:solidFill>
                <a:latin typeface="Inter"/>
              </a:rPr>
              <a:t>Open source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Hop · OffGrid</dc:title>
  <dc:subject>OffGrid hackathon presentation</dc:subject>
  <dc:creator>Akshai Krishna 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